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0152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2D 足球游戏 · 状态机结构解析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  <a:latin typeface="Microsoft YaHei"/>
                <a:ea typeface="Microsoft YaHei"/>
              </a:rPr>
              <a:t>Learn-2D-soccer-game-in-Godot（Godot 4.6 · GDScript）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0152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400" b="0">
                <a:solidFill>
                  <a:srgbClr val="A9D18E"/>
                </a:solidFill>
                <a:latin typeface="Microsoft YaHei"/>
                <a:ea typeface="Microsoft YaHei"/>
              </a:rPr>
              <a:t>Player / Ball 双状态机  ·  信号驱动切换  ·  工厂模式  ·  状态即节点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整体架构：两套同构的状态机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scenes/characters · scenes/ball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486400" cy="4572000"/>
          </a:xfrm>
          <a:prstGeom prst="rect">
            <a:avLst/>
          </a:prstGeom>
          <a:solidFill>
            <a:srgbClr val="EFF5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300" b="1">
                <a:solidFill>
                  <a:srgbClr val="1F4E79"/>
                </a:solidFill>
                <a:latin typeface="Microsoft YaHei"/>
                <a:ea typeface="Microsoft YaHei"/>
              </a:rPr>
              <a:t>Player（CharacterBody2D）— player.gd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783080"/>
            <a:ext cx="2468880" cy="594360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</a:rPr>
              <a:t>switch_state(state, data)</a:t>
            </a:r>
          </a:p>
          <a:p>
            <a:pPr algn="ctr"/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</a:rPr>
              <a:t>唯一切换入口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2286000" cy="9144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PlayerStateFactory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states: 枚举 → 状态类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46120"/>
            <a:ext cx="2286000" cy="9144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current_state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PlayerState 子节点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920240" y="2377440"/>
            <a:ext cx="685800" cy="8686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697480"/>
            <a:ext cx="1737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① get_fresh_state()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每次 new 新实例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63240" y="3703320"/>
            <a:ext cx="3657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80360" y="3794760"/>
            <a:ext cx="1828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② setup() + add_child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572000" y="2743200"/>
            <a:ext cx="0" cy="50292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200400" y="2743200"/>
            <a:ext cx="1371600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200400" y="2377440"/>
            <a:ext cx="0" cy="36576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06240" y="2395728"/>
            <a:ext cx="1828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③ 发信号请求切换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502920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状态以「子节点」形式挂在宿主身上，节点名 PlayerStateMachine:&lt;状态&gt;，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通过 %AnimationPlayer / %BallDetectionArea 等唯一名访问宿主节点。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143000"/>
            <a:ext cx="5486400" cy="4572000"/>
          </a:xfrm>
          <a:prstGeom prst="rect">
            <a:avLst/>
          </a:prstGeom>
          <a:solidFill>
            <a:srgbClr val="F1F8EE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234440"/>
            <a:ext cx="512064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300" b="1">
                <a:solidFill>
                  <a:srgbClr val="548235"/>
                </a:solidFill>
                <a:latin typeface="Microsoft YaHei"/>
                <a:ea typeface="Microsoft YaHei"/>
              </a:rPr>
              <a:t>Ball（AnimatableBody2D）— ball.gd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783080"/>
            <a:ext cx="2468880" cy="594360"/>
          </a:xfrm>
          <a:prstGeom prst="roundRect">
            <a:avLst/>
          </a:prstGeom>
          <a:solidFill>
            <a:srgbClr val="A9D18E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</a:rPr>
              <a:t>switch_state(state)</a:t>
            </a:r>
          </a:p>
          <a:p>
            <a:pPr algn="ctr"/>
            <a:r>
              <a:rPr sz="1050" b="1">
                <a:solidFill>
                  <a:srgbClr val="262626"/>
                </a:solidFill>
                <a:latin typeface="Microsoft YaHei"/>
                <a:ea typeface="Microsoft YaHei"/>
              </a:rPr>
              <a:t>唯一切换入口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3246120"/>
            <a:ext cx="2286000" cy="9144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BallStateFactory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states: 枚举 → 状态类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3246120"/>
            <a:ext cx="2286000" cy="91440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current_state</a:t>
            </a:r>
          </a:p>
          <a:p>
            <a:pPr algn="ctr"/>
            <a:r>
              <a:rPr sz="1050" b="0">
                <a:solidFill>
                  <a:srgbClr val="262626"/>
                </a:solidFill>
                <a:latin typeface="Microsoft YaHei"/>
                <a:ea typeface="Microsoft YaHei"/>
              </a:rPr>
              <a:t>BallState 子节点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726679" y="2377440"/>
            <a:ext cx="685801" cy="86868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20840" y="2697480"/>
            <a:ext cx="1737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① get_fresh_state()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每次 new 新实例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9680" y="3703320"/>
            <a:ext cx="36576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0" y="3794760"/>
            <a:ext cx="1828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② setup() + add_child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0378440" y="2743200"/>
            <a:ext cx="0" cy="50292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006840" y="2743200"/>
            <a:ext cx="1371600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9006840" y="2377440"/>
            <a:ext cx="0" cy="36576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012680" y="2395728"/>
            <a:ext cx="1828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③ 发信号请求切换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09160"/>
            <a:ext cx="502920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结构完全一致，只有上下文不同（球多一个 carrier 引用）。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另外球还可被外部直接切换：Player 射门/传球时调用 ball.shoot() / ball.pass_to()。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1100" b="1">
                <a:solidFill>
                  <a:srgbClr val="1F4E79"/>
                </a:solidFill>
                <a:latin typeface="Microsoft YaHei"/>
                <a:ea typeface="Microsoft YaHei"/>
              </a:rPr>
              <a:t>关键：状态机不是独立框架，而是「物理体宿主 + 普通 Node 子节点」的组合——状态可以直接使用 _enter_tree / _process / _exit_tree 生命周期。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状态机的五个组成部分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以 Player 侧为例，Ball 侧完全同构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103120" cy="77724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① 状态枚举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1289304"/>
            <a:ext cx="88696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Player.State { MOVING, TACKLING, RECOVERING, PREPPING_SHOT, SHOOTING, PASSING, HEADER, VOLLEY_KICK, BICYCLE_KICK, CHEST_CONTROL }（player.gd:13）——用枚举而不是字符串，切换时编译期可查。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67712"/>
            <a:ext cx="2103120" cy="77724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② 状态基类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22576"/>
            <a:ext cx="88696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PlayerState extends Node（player_state.gd）：定义 state_transition_requested 信号、setup() 注入依赖、transition_state() 发请求、on_animation_complete() 空钩子。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00984"/>
            <a:ext cx="2103120" cy="77724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③ 具体状态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3355848"/>
            <a:ext cx="88696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每个状态一个 .gd，重写 _enter_tree()（进入时播动画/连信号）、_process()（逐帧逻辑）、on_animation_complete()（动画播完转换）。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34256"/>
            <a:ext cx="2103120" cy="77724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④ 状态工厂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4389120"/>
            <a:ext cx="88696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PlayerStateFactory（player_state_factory.gd）：字典把枚举映射到状态类，get_fresh_state() 每次返回全新实例——切换即换实例，无残留变量。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67528"/>
            <a:ext cx="2103120" cy="777240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⑤ 宿主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5422392"/>
            <a:ext cx="88696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Player 持有 current_state 与 state_factory；switch_state() 是所有切换的唯一入口（player.gd:45-52）。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核心机制：switch_state() 的五步切换流程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player.gd:45-52 / ball.gd:29-36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394960" cy="658368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① 销毁旧状态：current_state.queue_free()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337560" y="2029967"/>
            <a:ext cx="0" cy="274321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304288"/>
            <a:ext cx="5394960" cy="658368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② 工厂产出新实例：state_factory.get_fresh_state(state) —— 每次 .new()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7560" y="2962656"/>
            <a:ext cx="0" cy="2743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3236976"/>
            <a:ext cx="5394960" cy="658368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③ 注入上下文：setup(player, state_data, 动画器, 球, 检测区, 球门 …)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37560" y="3895344"/>
            <a:ext cx="0" cy="2743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" y="4169664"/>
            <a:ext cx="5394960" cy="658368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④ 连接信号：state_transition_requested → 宿主的 switch_state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4828032"/>
            <a:ext cx="0" cy="2743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5102352"/>
            <a:ext cx="5394960" cy="658368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⑤ 延迟挂载：call_deferred("add_child", …)，命名 PlayerStateMachine:&lt;状态&gt;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为什么这样设计？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call_deferred：切换常发生在 _process / 信号回调里，此时直接改场景树不安全，延迟到帧末空闲时挂载。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每次全新实例：状态内部的计时器、dribble_time 等临时变量自动归零，不存在「上次残留」。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单一入口：任何转换最终都经过宿主的 switch_state()，调试时只盯一个函数。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信号绑定 switch_state.bind()：信号参数（新状态、数据）原样转发。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状态死亡即回收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queue_free() 后旧状态连同它 connect 的信号一起销毁，新旧状态永不共存。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信号驱动的转换 &amp; 跨状态传参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player_state.gd / player_state_data.gd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743200" cy="9144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PlayerStateMoving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（当前状态节点）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463040"/>
            <a:ext cx="2743200" cy="914400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Player.switch_state()</a:t>
            </a:r>
          </a:p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（宿主 · 唯一入口）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463040"/>
            <a:ext cx="2743200" cy="91440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PlayerStatePassing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（全新实例）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1920240"/>
            <a:ext cx="1325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63240" y="1051560"/>
            <a:ext cx="210312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emit 信号 + 目标枚举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1920240"/>
            <a:ext cx="1325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69480" y="1051560"/>
            <a:ext cx="210312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销毁旧态 / 创建新态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5760720" cy="3200400"/>
          </a:xfrm>
          <a:prstGeom prst="rect">
            <a:avLst/>
          </a:prstGeom>
          <a:solidFill>
            <a:srgbClr val="F5F5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# 状态只发请求，从不自己切换（player_state.gd:25）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func transition_state(new_state, data := PlayerStateData.new()):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    state_transition_requested.emit(new_state, data)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 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# 蓄力射门：用建造者把参数打包带进下一状态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var data = PlayerStateData.build() \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    .set_shot_power(shot_power) \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    .set_shot_direction(shot_direction)</a:t>
            </a:r>
          </a:p>
          <a:p>
            <a:r>
              <a:rPr sz="1100" b="0">
                <a:solidFill>
                  <a:srgbClr val="24292E"/>
                </a:solidFill>
                <a:latin typeface="Consolas"/>
                <a:ea typeface="Consolas"/>
              </a:rPr>
              <a:t>transition_state(Player.State.SHOOTING, 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8036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三条规则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状态之间零耦合：Moving 不知道 Passing 的存在，只认识枚举。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PlayerStateData 载荷：解决「蓄力力度/方向要带到 SHOOTING」这类跨状态传参。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动画驱动状态不在 _process 里切换：宿主 AnimationPlayer 播完 → on_animation_complete() 里再发转换（射门/传球/倒钩等）。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玩家状态机：状态转换全景图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实线 = 代码已实现 · 虚线 = 入口被注释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1737360" cy="685800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MOVING</a:t>
            </a:r>
          </a:p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(默认)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34440"/>
            <a:ext cx="1828800" cy="658368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234440"/>
            <a:ext cx="1920240" cy="658368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PREPPING_SHOT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234440"/>
            <a:ext cx="1737360" cy="658368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SHOOTING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2788920"/>
            <a:ext cx="4754880" cy="1691640"/>
          </a:xfrm>
          <a:prstGeom prst="rect">
            <a:avLst/>
          </a:prstGeom>
          <a:solidFill>
            <a:srgbClr val="F2F7EC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45720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1">
                <a:solidFill>
                  <a:srgbClr val="548235"/>
                </a:solidFill>
                <a:latin typeface="Microsoft YaHei"/>
                <a:ea typeface="Microsoft YaHei"/>
              </a:rPr>
              <a:t>空中球技（球在空中且可交互时按射门）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200400"/>
            <a:ext cx="1371600" cy="54864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</a:rPr>
              <a:t>HEADER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200400"/>
            <a:ext cx="1463040" cy="54864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</a:rPr>
              <a:t>VOLLEY_KICK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200400"/>
            <a:ext cx="1371600" cy="54864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>
                <a:solidFill>
                  <a:srgbClr val="262626"/>
                </a:solidFill>
                <a:latin typeface="Microsoft YaHei"/>
                <a:ea typeface="Microsoft YaHei"/>
              </a:rPr>
              <a:t>BICYCLE_KICK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886200"/>
            <a:ext cx="448056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移动中 → 头球 ；静止面向球门 → 凌空 ；静止背向 → 倒钩</a:t>
            </a:r>
          </a:p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（命中加成 ×1.3 / ×1.5 / ×2.0）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5029200"/>
            <a:ext cx="1737360" cy="640080"/>
          </a:xfrm>
          <a:prstGeom prst="roundRect">
            <a:avLst/>
          </a:prstGeom>
          <a:solidFill>
            <a:srgbClr val="E7E6E6"/>
          </a:solidFill>
          <a:ln w="15240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TACKLING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5029200"/>
            <a:ext cx="1737360" cy="640080"/>
          </a:xfrm>
          <a:prstGeom prst="roundRect">
            <a:avLst/>
          </a:prstGeom>
          <a:solidFill>
            <a:srgbClr val="DAE8FC"/>
          </a:solidFill>
          <a:ln w="15240">
            <a:solidFill>
              <a:srgbClr val="6C8E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RECOVERING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417320" y="1600200"/>
            <a:ext cx="1965960" cy="12344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874519" y="1783080"/>
            <a:ext cx="15544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有球·按传球键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011680" y="1828800"/>
            <a:ext cx="1371600" cy="10058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31720" y="2331720"/>
            <a:ext cx="13716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动画完成·传球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148840" y="1892807"/>
            <a:ext cx="4343400" cy="941833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977639" y="2103120"/>
            <a:ext cx="20116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有球·按下射门键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1563624"/>
            <a:ext cx="7315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40880" y="1664208"/>
            <a:ext cx="20116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松开射门+PlayerStateData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372600" y="1024128"/>
            <a:ext cx="0" cy="210312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234440" y="1024128"/>
            <a:ext cx="8138160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34440" y="1024128"/>
            <a:ext cx="0" cy="181051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822960"/>
            <a:ext cx="3108960" cy="20116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人类玩家 · 动画完成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1892807"/>
            <a:ext cx="0" cy="3136393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509760" y="3200400"/>
            <a:ext cx="12801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CPU·动画完成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560320" y="3127248"/>
            <a:ext cx="822960" cy="118872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40280" y="3639312"/>
            <a:ext cx="14630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空中球·按射门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38160" y="4023360"/>
            <a:ext cx="594360" cy="100584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635240" y="4434840"/>
            <a:ext cx="16459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动画完成/落地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91640" y="3520440"/>
            <a:ext cx="0" cy="1828800"/>
          </a:xfrm>
          <a:prstGeom prst="line">
            <a:avLst/>
          </a:prstGeom>
          <a:ln w="19050">
            <a:solidFill>
              <a:srgbClr val="595959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691640" y="5349240"/>
            <a:ext cx="2514600" cy="0"/>
          </a:xfrm>
          <a:prstGeom prst="line">
            <a:avLst/>
          </a:prstGeom>
          <a:ln w="19050">
            <a:solidFill>
              <a:srgbClr val="59595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783080" y="4956048"/>
            <a:ext cx="23774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Microsoft YaHei"/>
                <a:ea typeface="Microsoft YaHei"/>
              </a:rPr>
              <a:t>铲球（入口在 moving.gd 被注释）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0" y="5349240"/>
            <a:ext cx="256032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355080" y="4974336"/>
            <a:ext cx="18288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铲球停稳 +200ms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72600" y="5669280"/>
            <a:ext cx="0" cy="64008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1097280" y="6309360"/>
            <a:ext cx="8275320" cy="0"/>
          </a:xfrm>
          <a:prstGeom prst="line">
            <a:avLst/>
          </a:prstGeom>
          <a:ln w="19050">
            <a:solidFill>
              <a:srgbClr val="5959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097280" y="3520440"/>
            <a:ext cx="0" cy="278892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80560" y="6053328"/>
            <a:ext cx="23774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500ms 硬直结束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1115568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YaHei"/>
                <a:ea typeface="Microsoft YaHei"/>
              </a:rPr>
              <a:t>注：CHEST_CONTROL 已注册但为空实现，没有任何状态会切换到它；TACKLING 的触发代码在 player_state_moving.gd:33-34 被注释掉。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玩家状态机：各状态职责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scenes/characters/character_states/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MOVING（默认，player_state_moving.gd）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每帧经 KeyUtils 读输入 → velocity；带球时按「传球/射门」切走；球在空中可交互时按射门触发空中技；CPU 分支目前是空壳。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PASSING（player_state_passing.gd）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进入即播 kick 动画并停下；动画结束时在 TeammateDetectionArea 视野内找最近队友，ball.pass_to() 传给他，否则沿朝向直塞。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PREPPING_SHOT → SHOOTING（蓄力射门两段式）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按住射门蓄力、方向键微调方向；松开时按 ease 曲线算力度加成，打包 PlayerStateData 进入 SHOOTING；SHOOTING 播 kick，动画完成瞬间 ball.shoot()。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TACKLING / RECOVERING（铲球与硬直）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TACKLING：地面摩擦 250 减速到停，停稳 200ms 后转 RECOVERING；RECOVERING：清零速度硬直 500ms 回 MOVING。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HEADER / VOLLEY_KICK / BICYCLE_KICK（空中技）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进入时连 BallDetectionArea 的 body_entered，球进入且高度落在各自窗口内（10-30 / 1-20 / 5-25）就 contact_ball.shoot()，力度加成 ×1.3 / ×1.5 / ×2.0；动画完成或落地后转 RECOVERING。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球状态机：状态转换全景图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scenes/ball/ —— 只有 3 个状态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3017520"/>
            <a:ext cx="2011680" cy="73152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CARRIED</a:t>
            </a:r>
          </a:p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(被带球)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71600"/>
            <a:ext cx="2011680" cy="731520"/>
          </a:xfrm>
          <a:prstGeom prst="roundRect">
            <a:avLst/>
          </a:prstGeom>
          <a:solidFill>
            <a:srgbClr val="D5E8D4"/>
          </a:solidFill>
          <a:ln w="15240">
            <a:solidFill>
              <a:srgbClr val="82B3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SHOT</a:t>
            </a:r>
          </a:p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(射门飞行)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3017520"/>
            <a:ext cx="2011680" cy="731520"/>
          </a:xfrm>
          <a:prstGeom prst="roundRect">
            <a:avLst/>
          </a:prstGeom>
          <a:solidFill>
            <a:srgbClr val="A9D18E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FREEFORM</a:t>
            </a:r>
          </a:p>
          <a:p>
            <a:pPr algn="ctr"/>
            <a:r>
              <a:rPr sz="1100" b="1">
                <a:solidFill>
                  <a:srgbClr val="262626"/>
                </a:solidFill>
                <a:latin typeface="Microsoft YaHei"/>
                <a:ea typeface="Microsoft YaHei"/>
              </a:rPr>
              <a:t>(自由·默认)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017520" y="2103120"/>
            <a:ext cx="2743200" cy="9144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1840" y="2103120"/>
            <a:ext cx="23774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射门 ball.shoot()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0" y="2103120"/>
            <a:ext cx="3200400" cy="91440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0" y="2103120"/>
            <a:ext cx="256032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1 秒超时 / 撞墙提前反弹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474720" y="3310128"/>
            <a:ext cx="60350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4880" y="2907792"/>
            <a:ext cx="3291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玩家进入 PlayerDetectionArea（信号）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3639312"/>
            <a:ext cx="603504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54880" y="3749039"/>
            <a:ext cx="3291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传球 ball.pass_to()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69080"/>
            <a:ext cx="246888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贴住 carrier 脚下，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cos 函数模拟运球抖动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331720"/>
            <a:ext cx="24688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固定高度飞行，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期间不可被拾取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4069080"/>
            <a:ext cx="2468880" cy="9144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摩擦减速 + 重力弹跳；</a:t>
            </a:r>
          </a:p>
          <a:p>
            <a:pPr algn="ctr"/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撞墙反弹并自转换回 FREEFORM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212080"/>
            <a:ext cx="10058400" cy="1051560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D6B6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0">
                <a:solidFill>
                  <a:srgbClr val="262626"/>
                </a:solidFill>
                <a:latin typeface="Microsoft YaHei"/>
                <a:ea typeface="Microsoft YaHei"/>
              </a:rPr>
              <a:t>注意两条切换路径：① 状态内部发信号（FREEFORM→CARRIED、SHOT→FREEFORM）；② 宿主直接调用 —— 玩家射门/传球时由 ball.shoot() / ball.pass_to() 里直接 switch_state()，以及反弹时 move_and_bounce() 内部自切。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球状态机：职责与「假高度」物理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0" y="219456"/>
            <a:ext cx="539496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 algn="r"/>
            <a:r>
              <a:rPr sz="1000" b="0">
                <a:solidFill>
                  <a:srgbClr val="BDD7EE"/>
                </a:solidFill>
                <a:latin typeface="Microsoft YaHei"/>
                <a:ea typeface="Microsoft YaHei"/>
              </a:rPr>
              <a:t>ball_state.gd / ball_state_*.gd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FREEFORM（ball_state_freeform.gd）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按所在高度选地面/空气摩擦减速；process_gravity 带 BOUNCINESS=0.8 弹跳；move_and_bounce 撞墙反弹；玩家进入检测区 → CARRIED；can_air_interact() 返回 true（只有此时能触发空中技）。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CARRIED（ball_state_carried.gd）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每帧把球钉在 carrier 脚下偏移处，cos(dribble_time×10)×3 左右抖动模拟运球；自己不切状态，等玩家射门/传球时被宿主切走。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F4E79"/>
                </a:solidFill>
                <a:latin typeface="Microsoft YaHei"/>
                <a:ea typeface="Microsoft YaHei"/>
              </a:rPr>
              <a:t>SHOT（ball_state_shot.gd）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固定高度 5 飞行 1 秒，精灵压扁 0.8 倍表现速度感；超时转 FREEFORM；_exit_tree 恢复缩放。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480560"/>
            <a:ext cx="5852160" cy="1737360"/>
          </a:xfrm>
          <a:prstGeom prst="rect">
            <a:avLst/>
          </a:prstGeom>
          <a:solidFill>
            <a:srgbClr val="F5F5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# 2D 游戏里的「假高度」：height 只是数值，不参与碰撞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ball.height_velocity -= GRAVITY * delta   # 重力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ball.height += ball.height_velocity       # 积分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if ball.height &lt; 0:                       # 落地反弹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    ball.height_velocity = -v * bounciness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ball_sprite.position = Vector2.UP * height  # 仅视觉上移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44805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1">
                <a:solidFill>
                  <a:srgbClr val="1F4E79"/>
                </a:solidFill>
                <a:latin typeface="Microsoft YaHei"/>
                <a:ea typeface="Microsoft YaHei"/>
              </a:rPr>
              <a:t>为什么要假高度？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262626"/>
                </a:solidFill>
                <a:latin typeface="Microsoft YaHei"/>
                <a:ea typeface="Microsoft YaHei"/>
              </a:rPr>
              <a:t>• 俯视角 2D 没有真正的 Z 轴；用 height 数值 + 精灵偏移模拟抛物线，空中技再用高度窗口（如头球 10~30）判断「够得着吗」。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如何新增一个状态 &amp; 设计要点总结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12191695" cy="54864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5394960" cy="548640"/>
          </a:xfrm>
          <a:prstGeom prst="roundRect">
            <a:avLst/>
          </a:prstGeom>
          <a:solidFill>
            <a:srgbClr val="9DC3E6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新增状态的固定三步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新建 player_state_xxx.gd，extends PlayerState，重写需要的生命周期函数。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在 Player.State 枚举里加一项。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在 PlayerStateFactory.states 字典里注册：枚举 → 类。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Ball 侧同理（Ball.State + BallStateFactory）。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97680"/>
            <a:ext cx="5577840" cy="1920240"/>
          </a:xfrm>
          <a:prstGeom prst="rect">
            <a:avLst/>
          </a:prstGeom>
          <a:solidFill>
            <a:srgbClr val="F5F5F0"/>
          </a:solidFill>
          <a:ln w="9525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# 工厂模式让注册即接入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states = {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    Player.State.MOVING: PlayerStateMoving,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    Player.State.XXX:    PlayerStateXxx,   # ← 加一行</a:t>
            </a:r>
          </a:p>
          <a:p>
            <a:r>
              <a:rPr sz="1050" b="0">
                <a:solidFill>
                  <a:srgbClr val="24292E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143000"/>
            <a:ext cx="5212080" cy="548640"/>
          </a:xfrm>
          <a:prstGeom prst="roundRect">
            <a:avLst/>
          </a:prstGeom>
          <a:solidFill>
            <a:srgbClr val="A9D18E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262626"/>
                </a:solidFill>
                <a:latin typeface="Microsoft YaHei"/>
                <a:ea typeface="Microsoft YaHei"/>
              </a:rPr>
              <a:t>这套状态机值得借鉴的点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状态即节点：免生命周期框架，_enter_tree / _process / _exit_tree 天然就是 enter / update / exit。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信号驱动、单一入口：状态零耦合，切换全过宿主，好调试。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工厂 + 枚举：每次全新实例，无残留；新增状态三步搞定。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载荷对象 PlayerStateData：跨状态传参不显式引用对方。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动画驱动转换：表现（动画播完）和逻辑（何时切换）自动同步。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62626"/>
                </a:solidFill>
                <a:latin typeface="Microsoft YaHei"/>
                <a:ea typeface="Microsoft YaHei"/>
              </a:rPr>
              <a:t>• 代价：状态多了以后转换关系只存在于代码里——这张全景图就是文档。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